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Quantico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ntico-bold.fntdata"/><Relationship Id="rId16" Type="http://schemas.openxmlformats.org/officeDocument/2006/relationships/font" Target="fonts/Quantico-regular.fntdata"/><Relationship Id="rId19" Type="http://schemas.openxmlformats.org/officeDocument/2006/relationships/font" Target="fonts/Quantico-boldItalic.fntdata"/><Relationship Id="rId18" Type="http://schemas.openxmlformats.org/officeDocument/2006/relationships/font" Target="fonts/Quantic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76abfa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876abfa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76abfa0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876abfa0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876abfa08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876abfa08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76abfa08a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876abfa08a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76abfa08a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876abfa08a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876abfa08a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876abfa08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876abfa08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876abfa08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876abfa08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876abfa08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876abfa08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876abfa08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876abfa08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876abfa08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3026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 October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Team: Nathan Arimilli, Shahmir Javed, Joseph Bailey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600"/>
              <a:t>Minimum Variance Portfolio Optimization</a:t>
            </a:r>
            <a:endParaRPr sz="5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437" name="Google Shape;437;p48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8" name="Google Shape;438;p48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9" name="Google Shape;439;p48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0" name="Google Shape;440;p48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1" name="Google Shape;441;p48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2" name="Google Shape;442;p48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443" name="Google Shape;443;p48"/>
          <p:cNvSpPr txBox="1"/>
          <p:nvPr>
            <p:ph idx="1" type="subTitle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descr="Spaces to add section titles" id="444" name="Google Shape;444;p48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Portfolio Assumptions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(01)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5" name="Google Shape;445;p48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Portfolio Breakdown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(02)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6" name="Google Shape;446;p48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Portfolio Returns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(03)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7" name="Google Shape;447;p48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Portfolio Volatility &amp; Turnover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(04)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8" name="Google Shape;448;p48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The Efficient Frontier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(05)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9" name="Google Shape;449;p48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Takeaways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(06)</a:t>
            </a:r>
            <a:endParaRPr sz="12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/>
          <p:nvPr/>
        </p:nvSpPr>
        <p:spPr>
          <a:xfrm>
            <a:off x="464250" y="2342900"/>
            <a:ext cx="2751000" cy="2810400"/>
          </a:xfrm>
          <a:prstGeom prst="snip1Rect">
            <a:avLst>
              <a:gd fmla="val 76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3216049" y="2342976"/>
            <a:ext cx="2740500" cy="2810400"/>
          </a:xfrm>
          <a:prstGeom prst="snip1Rect">
            <a:avLst>
              <a:gd fmla="val 79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5956138" y="2342625"/>
            <a:ext cx="2740500" cy="2810400"/>
          </a:xfrm>
          <a:prstGeom prst="snip1Rect">
            <a:avLst>
              <a:gd fmla="val 78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464250" y="3730356"/>
            <a:ext cx="2756100" cy="14232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3216044" y="3730350"/>
            <a:ext cx="2740500" cy="14232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5957414" y="3730350"/>
            <a:ext cx="2740500" cy="14232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60" name="Google Shape;460;p49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/>
              <a:t>Portfolio Assumptions</a:t>
            </a:r>
            <a:endParaRPr/>
          </a:p>
        </p:txBody>
      </p:sp>
      <p:sp>
        <p:nvSpPr>
          <p:cNvPr id="461" name="Google Shape;461;p49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Backtest period of 15 years (2010-2024)</a:t>
            </a:r>
            <a:endParaRPr sz="1400"/>
          </a:p>
        </p:txBody>
      </p:sp>
      <p:sp>
        <p:nvSpPr>
          <p:cNvPr id="462" name="Google Shape;462;p49"/>
          <p:cNvSpPr txBox="1"/>
          <p:nvPr>
            <p:ph idx="4294967295" type="title"/>
          </p:nvPr>
        </p:nvSpPr>
        <p:spPr>
          <a:xfrm>
            <a:off x="6237052" y="2635250"/>
            <a:ext cx="19632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4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Our sample portfolio consists of a basket of 20 default blue-chip stocks</a:t>
            </a:r>
            <a:endParaRPr sz="14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49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Maximum weights</a:t>
            </a:r>
            <a:endParaRPr sz="1400"/>
          </a:p>
          <a:p>
            <a:pPr indent="-1549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400"/>
              <a:t>Long positions: 100%</a:t>
            </a:r>
            <a:endParaRPr sz="1400"/>
          </a:p>
          <a:p>
            <a:pPr indent="-1549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400"/>
              <a:t>Short positions: (100)%</a:t>
            </a:r>
            <a:endParaRPr sz="1400"/>
          </a:p>
        </p:txBody>
      </p:sp>
      <p:sp>
        <p:nvSpPr>
          <p:cNvPr id="464" name="Google Shape;464;p49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/>
              <a:t>Had a rolling window of 36 months </a:t>
            </a:r>
            <a:endParaRPr sz="1400"/>
          </a:p>
        </p:txBody>
      </p:sp>
      <p:sp>
        <p:nvSpPr>
          <p:cNvPr id="465" name="Google Shape;465;p49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Allowed for a minimum of 36 months of data per stock and no more than 10% of data to be missing</a:t>
            </a:r>
            <a:endParaRPr sz="1400"/>
          </a:p>
        </p:txBody>
      </p:sp>
      <p:sp>
        <p:nvSpPr>
          <p:cNvPr id="466" name="Google Shape;466;p49"/>
          <p:cNvSpPr txBox="1"/>
          <p:nvPr>
            <p:ph type="title"/>
          </p:nvPr>
        </p:nvSpPr>
        <p:spPr>
          <a:xfrm>
            <a:off x="6190541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default risk free rate is set at 4.2% (based on the 10-year T-Note)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type="title"/>
          </p:nvPr>
        </p:nvSpPr>
        <p:spPr>
          <a:xfrm>
            <a:off x="446100" y="396225"/>
            <a:ext cx="5101800" cy="67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Portfolio Breakdown</a:t>
            </a:r>
            <a:endParaRPr/>
          </a:p>
        </p:txBody>
      </p:sp>
      <p:pic>
        <p:nvPicPr>
          <p:cNvPr id="472" name="Google Shape;472;p50" title="Top5Weigh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300" y="936675"/>
            <a:ext cx="5101800" cy="376387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0"/>
          <p:cNvSpPr txBox="1"/>
          <p:nvPr/>
        </p:nvSpPr>
        <p:spPr>
          <a:xfrm>
            <a:off x="614925" y="1589425"/>
            <a:ext cx="2622000" cy="29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➢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Major oscillation in the top 5 holdings over the 15 years being tracked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➢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top weight in any period is as high as 100% in JPM around 2022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1"/>
          <p:cNvSpPr txBox="1"/>
          <p:nvPr>
            <p:ph type="title"/>
          </p:nvPr>
        </p:nvSpPr>
        <p:spPr>
          <a:xfrm>
            <a:off x="446100" y="396225"/>
            <a:ext cx="5101800" cy="67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Portfolio Breakdown (Final Period)</a:t>
            </a:r>
            <a:endParaRPr/>
          </a:p>
        </p:txBody>
      </p:sp>
      <p:sp>
        <p:nvSpPr>
          <p:cNvPr id="479" name="Google Shape;479;p51"/>
          <p:cNvSpPr txBox="1"/>
          <p:nvPr/>
        </p:nvSpPr>
        <p:spPr>
          <a:xfrm>
            <a:off x="614925" y="1589425"/>
            <a:ext cx="2622000" cy="29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➢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Shrinkage at work: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Sample portfolio: 0.97 spread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L-W: 0.38 spread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0" name="Google Shape;480;p51" title="FinalWeight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490" y="1133725"/>
            <a:ext cx="3721510" cy="388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2"/>
          <p:cNvSpPr/>
          <p:nvPr/>
        </p:nvSpPr>
        <p:spPr>
          <a:xfrm>
            <a:off x="-8050" y="1821300"/>
            <a:ext cx="1948500" cy="3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6" name="Google Shape;486;p52"/>
          <p:cNvSpPr/>
          <p:nvPr/>
        </p:nvSpPr>
        <p:spPr>
          <a:xfrm>
            <a:off x="1930725" y="1821300"/>
            <a:ext cx="1754400" cy="33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7" name="Google Shape;487;p52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1500"/>
              <a:t>L-W Portfolio</a:t>
            </a:r>
            <a:endParaRPr sz="1500"/>
          </a:p>
        </p:txBody>
      </p:sp>
      <p:sp>
        <p:nvSpPr>
          <p:cNvPr id="488" name="Google Shape;488;p52"/>
          <p:cNvSpPr txBox="1"/>
          <p:nvPr>
            <p:ph idx="2" type="title"/>
          </p:nvPr>
        </p:nvSpPr>
        <p:spPr>
          <a:xfrm>
            <a:off x="185775" y="2044900"/>
            <a:ext cx="17544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1500"/>
              <a:t>Sample Portfolio</a:t>
            </a:r>
            <a:endParaRPr sz="1500"/>
          </a:p>
        </p:txBody>
      </p:sp>
      <p:sp>
        <p:nvSpPr>
          <p:cNvPr id="489" name="Google Shape;489;p52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Portfolio Returns</a:t>
            </a:r>
            <a:endParaRPr/>
          </a:p>
        </p:txBody>
      </p:sp>
      <p:sp>
        <p:nvSpPr>
          <p:cNvPr id="490" name="Google Shape;490;p52"/>
          <p:cNvSpPr txBox="1"/>
          <p:nvPr>
            <p:ph idx="1" type="subTitle"/>
          </p:nvPr>
        </p:nvSpPr>
        <p:spPr>
          <a:xfrm>
            <a:off x="185775" y="2476500"/>
            <a:ext cx="16671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Total Return: 315.79%</a:t>
            </a:r>
            <a:endParaRPr sz="1400"/>
          </a:p>
        </p:txBody>
      </p:sp>
      <p:sp>
        <p:nvSpPr>
          <p:cNvPr id="491" name="Google Shape;491;p52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</a:t>
            </a:r>
            <a:r>
              <a:rPr lang="en" sz="1400"/>
              <a:t>otal Return: 242.30%</a:t>
            </a:r>
            <a:endParaRPr/>
          </a:p>
        </p:txBody>
      </p:sp>
      <p:sp>
        <p:nvSpPr>
          <p:cNvPr id="492" name="Google Shape;492;p52"/>
          <p:cNvSpPr txBox="1"/>
          <p:nvPr>
            <p:ph idx="14" type="subTitle"/>
          </p:nvPr>
        </p:nvSpPr>
        <p:spPr>
          <a:xfrm>
            <a:off x="176250" y="3104100"/>
            <a:ext cx="17544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/>
              <a:t>Annualized Return: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</a:pPr>
            <a:r>
              <a:rPr lang="en" sz="1400"/>
              <a:t>13.83%</a:t>
            </a:r>
            <a:endParaRPr sz="1400"/>
          </a:p>
        </p:txBody>
      </p:sp>
      <p:sp>
        <p:nvSpPr>
          <p:cNvPr id="493" name="Google Shape;493;p52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300"/>
              <a:t>Annualized Return: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300"/>
              <a:t>11.84%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</p:txBody>
      </p:sp>
      <p:sp>
        <p:nvSpPr>
          <p:cNvPr id="494" name="Google Shape;494;p52"/>
          <p:cNvSpPr txBox="1"/>
          <p:nvPr>
            <p:ph idx="18" type="subTitle"/>
          </p:nvPr>
        </p:nvSpPr>
        <p:spPr>
          <a:xfrm>
            <a:off x="97900" y="3960650"/>
            <a:ext cx="16671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Managed the 2020 downturn well and posted major gains in the 5 years after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2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Showed a steady 11% return over the 15 yr period</a:t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496" name="Google Shape;496;p52" title="cumulative_re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200" y="1821300"/>
            <a:ext cx="5458876" cy="33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400">
                <a:solidFill>
                  <a:schemeClr val="accent6"/>
                </a:solidFill>
              </a:rPr>
              <a:t>Portfolio Volatility &amp; Turnover</a:t>
            </a:r>
            <a:endParaRPr sz="3400">
              <a:solidFill>
                <a:schemeClr val="accent6"/>
              </a:solidFill>
            </a:endParaRPr>
          </a:p>
        </p:txBody>
      </p:sp>
      <p:sp>
        <p:nvSpPr>
          <p:cNvPr id="502" name="Google Shape;502;p53"/>
          <p:cNvSpPr txBox="1"/>
          <p:nvPr>
            <p:ph idx="2" type="title"/>
          </p:nvPr>
        </p:nvSpPr>
        <p:spPr>
          <a:xfrm>
            <a:off x="931675" y="1837100"/>
            <a:ext cx="4005900" cy="244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➢"/>
            </a:pPr>
            <a:r>
              <a:rPr lang="en">
                <a:solidFill>
                  <a:schemeClr val="accent6"/>
                </a:solidFill>
              </a:rPr>
              <a:t>We see major differences in both the volatility of the portfolios and the asset turnover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➢"/>
            </a:pPr>
            <a:r>
              <a:rPr lang="en">
                <a:solidFill>
                  <a:schemeClr val="accent6"/>
                </a:solidFill>
              </a:rPr>
              <a:t>Volatility: the annualized volatility for the sample portfolio is 18.67% while the L-W volatility is 14.03% per year</a:t>
            </a:r>
            <a:endParaRPr>
              <a:solidFill>
                <a:schemeClr val="accent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➢"/>
            </a:pPr>
            <a:r>
              <a:rPr lang="en">
                <a:solidFill>
                  <a:schemeClr val="accent6"/>
                </a:solidFill>
              </a:rPr>
              <a:t>Turnover: the median monthly turnover for the sample portfolio is 87.6% and the L-W is only 23.4%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503" name="Google Shape;503;p53" title="Volatilit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450" y="713075"/>
            <a:ext cx="2967425" cy="19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3" title="Turnove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6450" y="2837450"/>
            <a:ext cx="2967426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heme title" id="509" name="Google Shape;509;p54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Efficient Frontier</a:t>
            </a:r>
            <a:endParaRPr/>
          </a:p>
        </p:txBody>
      </p:sp>
      <p:sp>
        <p:nvSpPr>
          <p:cNvPr descr="Space to add the employee's name" id="510" name="Google Shape;510;p54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Based on Final Portfolio Iteration</a:t>
            </a:r>
            <a:endParaRPr sz="1600"/>
          </a:p>
        </p:txBody>
      </p:sp>
      <p:sp>
        <p:nvSpPr>
          <p:cNvPr descr="Space to add a bio about this employee" id="511" name="Google Shape;511;p54"/>
          <p:cNvSpPr txBox="1"/>
          <p:nvPr>
            <p:ph idx="4" type="subTitle"/>
          </p:nvPr>
        </p:nvSpPr>
        <p:spPr>
          <a:xfrm>
            <a:off x="5821575" y="2476500"/>
            <a:ext cx="2650500" cy="2381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Risk free rate was 4.2%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Sample covariance frontier shows less volatility needed for a given return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L-W portfolio has a stable slope. What would the CAL look like?</a:t>
            </a:r>
            <a:endParaRPr sz="1400"/>
          </a:p>
        </p:txBody>
      </p:sp>
      <p:pic>
        <p:nvPicPr>
          <p:cNvPr id="512" name="Google Shape;512;p54" title="Efficient Frontier.jp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0" r="17314" t="0"/>
          <a:stretch/>
        </p:blipFill>
        <p:spPr>
          <a:xfrm>
            <a:off x="0" y="1502400"/>
            <a:ext cx="5404500" cy="3639600"/>
          </a:xfrm>
          <a:prstGeom prst="snip1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8" name="Google Shape;518;p55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9" name="Google Shape;519;p55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Takeaways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20" name="Google Shape;520;p55"/>
          <p:cNvSpPr txBox="1"/>
          <p:nvPr>
            <p:ph idx="13" type="title"/>
          </p:nvPr>
        </p:nvSpPr>
        <p:spPr>
          <a:xfrm>
            <a:off x="941650" y="1623900"/>
            <a:ext cx="2295300" cy="28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300"/>
              <a:t>Given our portfolio </a:t>
            </a:r>
            <a:r>
              <a:rPr lang="en" sz="1300"/>
              <a:t>assumptions</a:t>
            </a:r>
            <a:r>
              <a:rPr lang="en" sz="1300"/>
              <a:t>, we found the sample covariance portfolio outperformed the Ledoit-Wolf portfolio, but with much higher variance and asset turnover. When presented to a client, there are a few major takeaways we would make sure to highlight when deciding which portfolio is best.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521" name="Google Shape;521;p55"/>
          <p:cNvSpPr txBox="1"/>
          <p:nvPr>
            <p:ph idx="6" type="title"/>
          </p:nvPr>
        </p:nvSpPr>
        <p:spPr>
          <a:xfrm>
            <a:off x="4423700" y="1379550"/>
            <a:ext cx="1703700" cy="120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The sample portfolio had about a 2% higher annualized return, but had 4.5% higher yearly volatility.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522" name="Google Shape;522;p55"/>
          <p:cNvSpPr txBox="1"/>
          <p:nvPr>
            <p:ph idx="2" type="title"/>
          </p:nvPr>
        </p:nvSpPr>
        <p:spPr>
          <a:xfrm>
            <a:off x="4399597" y="835425"/>
            <a:ext cx="1703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Higher Returns, but at what cost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23" name="Google Shape;523;p55"/>
          <p:cNvSpPr txBox="1"/>
          <p:nvPr>
            <p:ph idx="3" type="title"/>
          </p:nvPr>
        </p:nvSpPr>
        <p:spPr>
          <a:xfrm>
            <a:off x="6496050" y="835425"/>
            <a:ext cx="1856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Transaction Cost Effect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24" name="Google Shape;524;p55"/>
          <p:cNvSpPr txBox="1"/>
          <p:nvPr>
            <p:ph idx="8" type="title"/>
          </p:nvPr>
        </p:nvSpPr>
        <p:spPr>
          <a:xfrm>
            <a:off x="4423700" y="3341700"/>
            <a:ext cx="1703700" cy="10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After finding which portfolio works best for the client, we will discuss their risk tolerance and decide how much they want to invest in the risk free rate.</a:t>
            </a:r>
            <a:endParaRPr/>
          </a:p>
        </p:txBody>
      </p:sp>
      <p:sp>
        <p:nvSpPr>
          <p:cNvPr id="525" name="Google Shape;525;p55"/>
          <p:cNvSpPr txBox="1"/>
          <p:nvPr>
            <p:ph idx="4" type="title"/>
          </p:nvPr>
        </p:nvSpPr>
        <p:spPr>
          <a:xfrm>
            <a:off x="4385600" y="2797575"/>
            <a:ext cx="1776300" cy="45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Finding a point on the CAL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26" name="Google Shape;526;p55"/>
          <p:cNvSpPr txBox="1"/>
          <p:nvPr>
            <p:ph idx="5" type="title"/>
          </p:nvPr>
        </p:nvSpPr>
        <p:spPr>
          <a:xfrm>
            <a:off x="6496050" y="2797575"/>
            <a:ext cx="1703700" cy="45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Re-run with client parameters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27" name="Google Shape;527;p55"/>
          <p:cNvSpPr txBox="1"/>
          <p:nvPr>
            <p:ph idx="7" type="title"/>
          </p:nvPr>
        </p:nvSpPr>
        <p:spPr>
          <a:xfrm>
            <a:off x="6562725" y="1379550"/>
            <a:ext cx="1703700" cy="10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Our sample portfolio has a median monthly turnover of 87%, almost 4 times higher than the L-W portfolio (23%). After transaction costs, the net returns will be lower.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528" name="Google Shape;528;p55"/>
          <p:cNvSpPr txBox="1"/>
          <p:nvPr>
            <p:ph idx="9" type="title"/>
          </p:nvPr>
        </p:nvSpPr>
        <p:spPr>
          <a:xfrm>
            <a:off x="6562725" y="3341704"/>
            <a:ext cx="1703700" cy="10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After discussing the </a:t>
            </a:r>
            <a:r>
              <a:rPr lang="en"/>
              <a:t>strategy</a:t>
            </a:r>
            <a:r>
              <a:rPr lang="en"/>
              <a:t> the client is interested in, we will re-run the model with their parameters to settle on a final portfolio.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>
            <p:ph type="title"/>
          </p:nvPr>
        </p:nvSpPr>
        <p:spPr>
          <a:xfrm>
            <a:off x="958650" y="2117400"/>
            <a:ext cx="7226700" cy="908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you!!</a:t>
            </a:r>
            <a:endParaRPr/>
          </a:p>
        </p:txBody>
      </p:sp>
      <p:sp>
        <p:nvSpPr>
          <p:cNvPr id="534" name="Google Shape;534;p56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000"/>
              <a:t>1 October 2025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Lehman Brothers 2.0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